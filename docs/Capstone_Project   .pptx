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  <p:sldMasterId id="2147483660" r:id="rId5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6097"/>
  </p:normalViewPr>
  <p:slideViewPr>
    <p:cSldViewPr snapToGrid="0">
      <p:cViewPr varScale="1">
        <p:scale>
          <a:sx n="166" d="100"/>
          <a:sy n="166" d="100"/>
        </p:scale>
        <p:origin x="1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071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180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811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2C56A-DE50-8DA4-2F67-E3F3D79B2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06E6E0-F8B1-1CD5-95D0-B7B0AACC6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4CC12-6C1E-B3C2-E250-689C02C68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655A1-EBB2-592D-385A-8F0801A5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B9677-66F0-15A5-35FE-51702CD3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87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5A759-6880-FDF6-95EC-DB5CCDF4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D589-2A94-3D47-1232-391BE3C3B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24A2E-A283-C666-8A10-345B4FA9A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1CA1F-30CB-4F9D-D260-ED1925829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5FF4F-D8A2-D433-1B99-12F7565E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62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B4377-97A2-57B8-BCB8-7B139F843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4A4CA-7483-A907-6943-C5E41EE45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81DD9-72F3-77A9-0714-24D8C51E1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4BCBC-323F-014C-2FF3-AE41C2BA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1D1E-A722-5796-8AB5-A1647CFA9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02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D89F-AE28-BF69-ED6E-53DC82478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C5C3B-F51F-22FD-B7DB-56F69130B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52115-B455-291A-0364-8ECE9DEC8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4EFDA-3D33-557F-1CD8-73A54B82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8359-5770-578C-551D-D8C497E8A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A7CE8-C5D0-E138-CFB6-ADA7D17E7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15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9BDD8-87B2-3CBB-5F09-42CAE88B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E3A4-50FA-1389-041E-09A31DC2E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E2825-3C46-04D2-1725-91D63CB30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B7F8BB-3BA6-E126-BC26-6DB00AE39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1044E-29F1-381E-BAA2-97722B8BC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9B4E0-93F4-372E-BFE4-A9A2BEF8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ED329-B6A6-65EA-D409-8C5B80C77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8583CE-FB4A-4352-666A-1022C1DC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3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1A19-B361-9B5C-271B-51ACCA0A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6C11C0-E83C-67C6-AFA5-9C6F92F1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C06DE-F2DB-3A07-85FA-7E8A8E355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D011C-8CB5-90AF-CB8E-52488ABA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7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7D40FC-5870-0723-E8EB-09BD6A02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CAE135-F3C0-06F2-B9F3-DF2EACE6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2EF41-3769-09AD-58CD-F3BD36F4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9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D1AED-6DE9-505B-096F-3ED5C3101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E22B8-CB3A-128E-8CE3-9928A62C1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D7F7B-FF5B-3B1C-2617-7C1794DB1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AA26E-5221-6D53-3F6E-7778D6A4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04AC1-EE1A-DA93-C649-D86EAE70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C45CD-1F62-3BA2-74DD-C9DD6618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38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9AB55-F097-73D6-D22F-00A4EDD6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D56D03-7F97-9546-F7C5-628635762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13486-40CB-8EF8-7AF5-5196EC1E1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2E058-DD11-F4D4-63DC-C72B55E35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4A14D-ABC5-9416-F163-542318E2C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A2DFA-0227-FF2C-1B3B-E4F67684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A7A2-6838-1B70-9FFF-0AA9D747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33F42E-822D-314A-2B2D-963754298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C27E7-986D-0685-D499-548F5240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2A6C6-C441-8E7A-A07B-35EB3D3E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4C18-D205-467C-F979-9FD0FE2D6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63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F6415A-AF45-FEE2-1D3F-2ECEAED9F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56EB3-0086-CDB2-46BC-251860181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F2A26-7959-7C52-A850-9F671D1E8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54948-5CE9-549E-C14D-ECA3BECDF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315D2-0778-A625-0FC8-DC7044DD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71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2224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508A9C-5AFE-B377-B86F-1264EA006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E6116-8904-C27D-B2CC-846BB6785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B8EDD-7240-6DCD-1DE0-D24E05C9F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C2189-C401-3440-B7D9-E5D723C5AA8D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86BFF-7E04-9440-DA51-0155F10CE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A8F2B-1D28-EB47-4E06-050081A9F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E1291-C3E6-4041-92E0-67868AE63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159445" y="4144200"/>
            <a:ext cx="984551" cy="9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649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222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88600" y="65336"/>
            <a:ext cx="1913424" cy="4408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5nrf2swp2buptpmwwiklxg.streamlit.app/" TargetMode="Externa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EB1886-D6E6-11E7-F26C-A97737DD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00" y="476738"/>
            <a:ext cx="8520600" cy="2279616"/>
          </a:xfrm>
        </p:spPr>
        <p:txBody>
          <a:bodyPr/>
          <a:lstStyle/>
          <a:p>
            <a:r>
              <a:rPr lang="en-US" sz="4400" dirty="0"/>
              <a:t>Diabetes Risk Prediction and Analysis Using Clinical and Lifestyle Factors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4021643-9A4E-DF43-6A06-8E7C3EE56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4"/>
            <a:ext cx="8520600" cy="1832637"/>
          </a:xfrm>
        </p:spPr>
        <p:txBody>
          <a:bodyPr/>
          <a:lstStyle/>
          <a:p>
            <a:pPr algn="l"/>
            <a:r>
              <a:rPr lang="en-US" sz="1800" dirty="0"/>
              <a:t>Ritik Sunil Toksiya </a:t>
            </a:r>
          </a:p>
          <a:p>
            <a:pPr algn="l"/>
            <a:r>
              <a:rPr lang="en-US" sz="1800" dirty="0"/>
              <a:t>UMBC DATA 606 – Capstone </a:t>
            </a:r>
          </a:p>
          <a:p>
            <a:pPr algn="l"/>
            <a:r>
              <a:rPr lang="en-US" sz="1800" dirty="0"/>
              <a:t>Advisor: Dr. </a:t>
            </a:r>
            <a:r>
              <a:rPr lang="en-US" sz="1800" dirty="0" err="1"/>
              <a:t>Chaojie</a:t>
            </a:r>
            <a:r>
              <a:rPr lang="en-US" sz="1800" dirty="0"/>
              <a:t> (Jay) Wang </a:t>
            </a:r>
          </a:p>
          <a:p>
            <a:pPr algn="l"/>
            <a:r>
              <a:rPr lang="en-US" sz="1800" dirty="0"/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0334-2F4B-D0BE-499B-5BCC87C9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47C27-C36D-FCDB-CDF4-A82F0CB19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2450"/>
            <a:ext cx="8520600" cy="353243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Problem Statement &amp; Motivation </a:t>
            </a:r>
          </a:p>
          <a:p>
            <a:pPr>
              <a:buFont typeface="+mj-lt"/>
              <a:buAutoNum type="arabicPeriod"/>
            </a:pPr>
            <a:r>
              <a:rPr lang="en-US" dirty="0"/>
              <a:t>Dataset Overview </a:t>
            </a:r>
          </a:p>
          <a:p>
            <a:pPr>
              <a:buFont typeface="+mj-lt"/>
              <a:buAutoNum type="arabicPeriod"/>
            </a:pPr>
            <a:r>
              <a:rPr lang="en-US" dirty="0"/>
              <a:t>Exploratory Data Analysis (EDA) </a:t>
            </a:r>
          </a:p>
          <a:p>
            <a:pPr>
              <a:buFont typeface="+mj-lt"/>
              <a:buAutoNum type="arabicPeriod"/>
            </a:pPr>
            <a:r>
              <a:rPr lang="en-US" dirty="0"/>
              <a:t>Feature Engineering </a:t>
            </a:r>
          </a:p>
          <a:p>
            <a:pPr>
              <a:buFont typeface="+mj-lt"/>
              <a:buAutoNum type="arabicPeriod"/>
            </a:pPr>
            <a:r>
              <a:rPr lang="en-US" dirty="0"/>
              <a:t>Data Preprocessing </a:t>
            </a:r>
          </a:p>
          <a:p>
            <a:pPr>
              <a:buFont typeface="+mj-lt"/>
              <a:buAutoNum type="arabicPeriod"/>
            </a:pPr>
            <a:r>
              <a:rPr lang="en-US" dirty="0"/>
              <a:t>Model Training &amp; Results </a:t>
            </a:r>
          </a:p>
          <a:p>
            <a:pPr>
              <a:buFont typeface="+mj-lt"/>
              <a:buAutoNum type="arabicPeriod"/>
            </a:pPr>
            <a:r>
              <a:rPr lang="en-US" dirty="0"/>
              <a:t>Model Evaluation </a:t>
            </a:r>
          </a:p>
          <a:p>
            <a:pPr>
              <a:buFont typeface="+mj-lt"/>
              <a:buAutoNum type="arabicPeriod"/>
            </a:pPr>
            <a:r>
              <a:rPr lang="en-US" dirty="0"/>
              <a:t>SHAP Analysis 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Streamlit</a:t>
            </a:r>
            <a:r>
              <a:rPr lang="en-US" dirty="0"/>
              <a:t> App Demo </a:t>
            </a:r>
          </a:p>
          <a:p>
            <a:pPr>
              <a:buFont typeface="+mj-lt"/>
              <a:buAutoNum type="arabicPeriod"/>
            </a:pPr>
            <a:r>
              <a:rPr lang="en-US" dirty="0"/>
              <a:t>Conclusion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387010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D066-0B4C-302A-4937-33C2AA470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A8DE0-3529-7EF7-52FC-FD3F9C6FE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- </a:t>
            </a:r>
            <a:r>
              <a:rPr lang="en-US" sz="1100" dirty="0"/>
              <a:t>Diabetes affects 34.2 million Americans — millions more are undiagnosed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- Prediabetes affects 88 million Americans with most unaware of their condition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- Early identification of high-risk individuals can:</a:t>
            </a:r>
          </a:p>
          <a:p>
            <a:pPr marL="114300" indent="0">
              <a:buNone/>
            </a:pPr>
            <a:r>
              <a:rPr lang="en-US" sz="1100" dirty="0"/>
              <a:t>   - Encourage lifestyle changes</a:t>
            </a:r>
          </a:p>
          <a:p>
            <a:pPr marL="114300" indent="0">
              <a:buNone/>
            </a:pPr>
            <a:r>
              <a:rPr lang="en-US" sz="1100" dirty="0"/>
              <a:t>   - Support early medical consultation</a:t>
            </a:r>
          </a:p>
          <a:p>
            <a:pPr marL="114300" indent="0">
              <a:buNone/>
            </a:pPr>
            <a:r>
              <a:rPr lang="en-US" sz="1100" dirty="0"/>
              <a:t>   - Help public health officials target prevention efforts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- Goal: Build a machine learning model to predict diabetes risk using </a:t>
            </a:r>
          </a:p>
          <a:p>
            <a:pPr marL="114300" indent="0">
              <a:buNone/>
            </a:pPr>
            <a:r>
              <a:rPr lang="en-US" sz="1100" dirty="0"/>
              <a:t>  clinical, lifestyle and demographic factors from CDC survey data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- This is a Supervised Multiclass Classification Problem</a:t>
            </a:r>
          </a:p>
          <a:p>
            <a:pPr marL="114300" indent="0">
              <a:buNone/>
            </a:pPr>
            <a:r>
              <a:rPr lang="en-US" sz="1100" dirty="0"/>
              <a:t>   - Class 0 = No Diabetes</a:t>
            </a:r>
          </a:p>
          <a:p>
            <a:pPr marL="114300" indent="0">
              <a:buNone/>
            </a:pPr>
            <a:r>
              <a:rPr lang="en-US" sz="1100" dirty="0"/>
              <a:t>   - Class 1 = Prediabetes</a:t>
            </a:r>
          </a:p>
          <a:p>
            <a:pPr marL="114300" indent="0">
              <a:buNone/>
            </a:pPr>
            <a:r>
              <a:rPr lang="en-US" sz="1100" dirty="0"/>
              <a:t>   - Class 2 = Diabetes</a:t>
            </a:r>
          </a:p>
        </p:txBody>
      </p:sp>
    </p:spTree>
    <p:extLst>
      <p:ext uri="{BB962C8B-B14F-4D97-AF65-F5344CB8AC3E}">
        <p14:creationId xmlns:p14="http://schemas.microsoft.com/office/powerpoint/2010/main" val="2721050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E36B-C9AC-BEC0-779F-0E9FB9C7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97571-5174-DD91-C823-9D3978208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100" dirty="0"/>
              <a:t>Source</a:t>
            </a:r>
          </a:p>
          <a:p>
            <a:pPr marL="114300" indent="0">
              <a:buNone/>
            </a:pPr>
            <a:r>
              <a:rPr lang="en-US" sz="1100" dirty="0"/>
              <a:t>CDC Behavioral Risk Factor Surveillance System (BRFSS) 2015</a:t>
            </a:r>
          </a:p>
          <a:p>
            <a:pPr marL="114300" indent="0">
              <a:buNone/>
            </a:pPr>
            <a:r>
              <a:rPr lang="en-US" sz="1100" dirty="0"/>
              <a:t>https://</a:t>
            </a:r>
            <a:r>
              <a:rPr lang="en-US" sz="1100" dirty="0" err="1"/>
              <a:t>www.kaggle.com</a:t>
            </a:r>
            <a:r>
              <a:rPr lang="en-US" sz="1100" dirty="0"/>
              <a:t>/datasets/</a:t>
            </a:r>
            <a:r>
              <a:rPr lang="en-US" sz="1100" dirty="0" err="1"/>
              <a:t>alexteboul</a:t>
            </a:r>
            <a:r>
              <a:rPr lang="en-US" sz="1100" dirty="0"/>
              <a:t>/diabetes-health-indicators-dataset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Dataset Size</a:t>
            </a:r>
          </a:p>
          <a:p>
            <a:pPr marL="114300" indent="0">
              <a:buNone/>
            </a:pPr>
            <a:r>
              <a:rPr lang="en-US" sz="1100" dirty="0"/>
              <a:t>↳ 253,680 records  |  22 features  |  No missing values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Feature Categories</a:t>
            </a:r>
          </a:p>
          <a:p>
            <a:pPr marL="114300" indent="0">
              <a:buNone/>
            </a:pPr>
            <a:r>
              <a:rPr lang="en-US" sz="1100" dirty="0"/>
              <a:t>↳ Clinical:    BMI, </a:t>
            </a:r>
            <a:r>
              <a:rPr lang="en-US" sz="1100" dirty="0" err="1"/>
              <a:t>HighBP</a:t>
            </a:r>
            <a:r>
              <a:rPr lang="en-US" sz="1100" dirty="0"/>
              <a:t>, </a:t>
            </a:r>
            <a:r>
              <a:rPr lang="en-US" sz="1100" dirty="0" err="1"/>
              <a:t>HighChol</a:t>
            </a:r>
            <a:r>
              <a:rPr lang="en-US" sz="1100" dirty="0"/>
              <a:t>, Stroke, </a:t>
            </a:r>
            <a:r>
              <a:rPr lang="en-US" sz="1100" dirty="0" err="1"/>
              <a:t>HeartDiseaseorAttack</a:t>
            </a: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Lifestyle:   Smoker, </a:t>
            </a:r>
            <a:r>
              <a:rPr lang="en-US" sz="1100" dirty="0" err="1"/>
              <a:t>PhysActivity</a:t>
            </a:r>
            <a:r>
              <a:rPr lang="en-US" sz="1100" dirty="0"/>
              <a:t>, Fruits, Veggies, </a:t>
            </a:r>
            <a:r>
              <a:rPr lang="en-US" sz="1100" dirty="0" err="1"/>
              <a:t>HvyAlcoholConsump</a:t>
            </a: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Demographics: Age, Sex, Education, Income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Target Variable — Diabetes_012</a:t>
            </a:r>
          </a:p>
          <a:p>
            <a:pPr marL="114300" indent="0">
              <a:buNone/>
            </a:pPr>
            <a:r>
              <a:rPr lang="en-US" sz="1100" dirty="0"/>
              <a:t>↳ 0 = No Diabetes   →  213,703 samples  (84.24%)</a:t>
            </a:r>
          </a:p>
          <a:p>
            <a:pPr marL="114300" indent="0">
              <a:buNone/>
            </a:pPr>
            <a:r>
              <a:rPr lang="en-US" sz="1100" dirty="0"/>
              <a:t>↳ 1 = Prediabetes   →    4,631 samples  ( 1.83%)</a:t>
            </a:r>
          </a:p>
          <a:p>
            <a:pPr marL="114300" indent="0">
              <a:buNone/>
            </a:pPr>
            <a:r>
              <a:rPr lang="en-US" sz="1100" dirty="0"/>
              <a:t>↳ 2 = Diabetes      →   35,346 samples  (13.93%)</a:t>
            </a:r>
          </a:p>
        </p:txBody>
      </p:sp>
    </p:spTree>
    <p:extLst>
      <p:ext uri="{BB962C8B-B14F-4D97-AF65-F5344CB8AC3E}">
        <p14:creationId xmlns:p14="http://schemas.microsoft.com/office/powerpoint/2010/main" val="3421168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A6E9-0C49-907C-C885-D1CD318C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7BD29-BB4C-7104-4F60-2DCB1F604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100" dirty="0"/>
              <a:t>Class Distribution </a:t>
            </a:r>
          </a:p>
          <a:p>
            <a:pPr marL="114300" indent="0">
              <a:buNone/>
            </a:pPr>
            <a:r>
              <a:rPr lang="en-US" sz="1100" dirty="0"/>
              <a:t>↳ Severe class imbalance detected </a:t>
            </a:r>
          </a:p>
          <a:p>
            <a:pPr marL="114300" indent="0">
              <a:buNone/>
            </a:pPr>
            <a:r>
              <a:rPr lang="en-US" sz="1100" dirty="0"/>
              <a:t>↳ No Diabetes dominates at 84.24% </a:t>
            </a:r>
          </a:p>
          <a:p>
            <a:pPr marL="114300" indent="0">
              <a:buNone/>
            </a:pPr>
            <a:r>
              <a:rPr lang="en-US" sz="1100" dirty="0"/>
              <a:t>↳ Prediabetes severely underrepresented at only 1.83% </a:t>
            </a:r>
          </a:p>
          <a:p>
            <a:pPr marL="114300" indent="0">
              <a:buNone/>
            </a:pPr>
            <a:r>
              <a:rPr lang="en-US" sz="1100" dirty="0"/>
              <a:t>↳ Requires SMOTE oversampling before model training </a:t>
            </a:r>
          </a:p>
        </p:txBody>
      </p:sp>
      <p:pic>
        <p:nvPicPr>
          <p:cNvPr id="8" name="Picture 7" descr="A graph of diabetes class distribution&#10;&#10;AI-generated content may be incorrect.">
            <a:extLst>
              <a:ext uri="{FF2B5EF4-FFF2-40B4-BE49-F238E27FC236}">
                <a16:creationId xmlns:a16="http://schemas.microsoft.com/office/drawing/2014/main" id="{FC18E90C-AE07-DCD0-240A-0886486C8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763288"/>
            <a:ext cx="4500438" cy="433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0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BBC1-0486-5105-9801-4FB3DEE8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— Categorical Features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2CC1C-EC27-D867-92B8-41D1710C7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100" dirty="0"/>
              <a:t>Key Findings 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HighBP</a:t>
            </a:r>
            <a:r>
              <a:rPr lang="en-US" sz="1100" dirty="0"/>
              <a:t>: 37% in healthy vs 75% in diabetic respondents 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HighChol</a:t>
            </a:r>
            <a:r>
              <a:rPr lang="en-US" sz="1100" dirty="0"/>
              <a:t>: High cholesterol strongly associated with diabetes 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GenHlth</a:t>
            </a:r>
            <a:r>
              <a:rPr lang="en-US" sz="1100" dirty="0"/>
              <a:t>: Strongest categorical predictor — poor health = higher diabetes risk 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HeartDisease</a:t>
            </a:r>
            <a:r>
              <a:rPr lang="en-US" sz="1100" dirty="0"/>
              <a:t>: History of heart disease linked to diabetes </a:t>
            </a:r>
          </a:p>
          <a:p>
            <a:pPr marL="114300" indent="0">
              <a:buNone/>
            </a:pPr>
            <a:r>
              <a:rPr lang="en-US" sz="1100" dirty="0"/>
              <a:t>↳ Age: Diabetes risk increases steeply after age group 50-54 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PhysActivity</a:t>
            </a:r>
            <a:r>
              <a:rPr lang="en-US" sz="1100" dirty="0"/>
              <a:t>: Active respondents show lower diabetes rates </a:t>
            </a:r>
          </a:p>
          <a:p>
            <a:pPr marL="114300" indent="0">
              <a:buNone/>
            </a:pPr>
            <a:r>
              <a:rPr lang="en-US" sz="1100" dirty="0"/>
              <a:t>↳ Income: Higher income associated with lower diabetes rates </a:t>
            </a:r>
          </a:p>
          <a:p>
            <a:pPr marL="114300" indent="0">
              <a:buNone/>
            </a:pPr>
            <a:r>
              <a:rPr lang="en-US" sz="1100" dirty="0"/>
              <a:t>↳ Education: College graduates show lowest diabetes rates</a:t>
            </a:r>
          </a:p>
        </p:txBody>
      </p:sp>
      <p:pic>
        <p:nvPicPr>
          <p:cNvPr id="5" name="Picture 4" descr="A graph of diabetes distribution&#10;&#10;AI-generated content may be incorrect.">
            <a:extLst>
              <a:ext uri="{FF2B5EF4-FFF2-40B4-BE49-F238E27FC236}">
                <a16:creationId xmlns:a16="http://schemas.microsoft.com/office/drawing/2014/main" id="{CAC27EAE-053C-4F60-C5A0-C18FD2F29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17" y="2424606"/>
            <a:ext cx="4715124" cy="240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07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D6EE-9240-68A7-A3F7-AF7DE4918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— Numerical Features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2B6D6-304C-769B-F94E-11EA756CB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100" dirty="0"/>
              <a:t>3 Numerical Features: BMI, </a:t>
            </a:r>
            <a:r>
              <a:rPr lang="en-US" sz="1100" dirty="0" err="1"/>
              <a:t>MentHlth</a:t>
            </a:r>
            <a:r>
              <a:rPr lang="en-US" sz="1100" dirty="0"/>
              <a:t>, </a:t>
            </a:r>
            <a:r>
              <a:rPr lang="en-US" sz="1100" dirty="0" err="1"/>
              <a:t>PhysHlth</a:t>
            </a:r>
            <a:r>
              <a:rPr lang="en-US" sz="1100" dirty="0"/>
              <a:t> </a:t>
            </a:r>
          </a:p>
          <a:p>
            <a:pPr marL="114300" indent="0">
              <a:buNone/>
            </a:pPr>
            <a:r>
              <a:rPr lang="en-US" sz="1100" dirty="0"/>
              <a:t>BMI ↳ Right skewed distribution — most between 20-35</a:t>
            </a:r>
          </a:p>
          <a:p>
            <a:pPr marL="114300" indent="0">
              <a:buNone/>
            </a:pPr>
            <a:r>
              <a:rPr lang="en-US" sz="1100" dirty="0"/>
              <a:t> ↳ No Diabetes median BMI: 27.7 </a:t>
            </a:r>
          </a:p>
          <a:p>
            <a:pPr marL="114300" indent="0">
              <a:buNone/>
            </a:pPr>
            <a:r>
              <a:rPr lang="en-US" sz="1100" dirty="0"/>
              <a:t>↳ Prediabetes median BMI: 30.7 </a:t>
            </a:r>
          </a:p>
          <a:p>
            <a:pPr marL="114300" indent="0">
              <a:buNone/>
            </a:pPr>
            <a:r>
              <a:rPr lang="en-US" sz="1100" dirty="0"/>
              <a:t>↳ Diabetes median BMI: 31.9 </a:t>
            </a:r>
          </a:p>
          <a:p>
            <a:pPr marL="114300" indent="0">
              <a:buNone/>
            </a:pPr>
            <a:r>
              <a:rPr lang="en-US" sz="1100" dirty="0"/>
              <a:t>↳ Higher BMI clearly associated with diabetes risk </a:t>
            </a:r>
          </a:p>
          <a:p>
            <a:pPr marL="114300" indent="0">
              <a:buNone/>
            </a:pPr>
            <a:r>
              <a:rPr lang="en-US" sz="1100" dirty="0" err="1"/>
              <a:t>MentHlth</a:t>
            </a:r>
            <a:r>
              <a:rPr lang="en-US" sz="1100" dirty="0"/>
              <a:t> </a:t>
            </a:r>
          </a:p>
          <a:p>
            <a:pPr marL="114300" indent="0">
              <a:buNone/>
            </a:pPr>
            <a:r>
              <a:rPr lang="en-US" sz="1100" dirty="0"/>
              <a:t>↳ Heavily zero-inflated </a:t>
            </a:r>
          </a:p>
          <a:p>
            <a:pPr marL="114300" indent="0">
              <a:buNone/>
            </a:pPr>
            <a:r>
              <a:rPr lang="en-US" sz="1100" dirty="0"/>
              <a:t>↳ Most respondents report 0 bad mental health days </a:t>
            </a:r>
          </a:p>
          <a:p>
            <a:pPr marL="114300" indent="0">
              <a:buNone/>
            </a:pPr>
            <a:r>
              <a:rPr lang="en-US" sz="1100" dirty="0"/>
              <a:t>↳ Not a strong separator between classes </a:t>
            </a:r>
          </a:p>
          <a:p>
            <a:pPr marL="114300" indent="0">
              <a:buNone/>
            </a:pPr>
            <a:r>
              <a:rPr lang="en-US" sz="1100" dirty="0" err="1"/>
              <a:t>PhysHlth</a:t>
            </a:r>
            <a:r>
              <a:rPr lang="en-US" sz="1100" dirty="0"/>
              <a:t> </a:t>
            </a:r>
          </a:p>
          <a:p>
            <a:pPr marL="114300" indent="0">
              <a:buNone/>
            </a:pPr>
            <a:r>
              <a:rPr lang="en-US" sz="1100" dirty="0"/>
              <a:t>↳ Also zero-inflated but stronger predictor </a:t>
            </a:r>
          </a:p>
          <a:p>
            <a:pPr marL="114300" indent="0">
              <a:buNone/>
            </a:pPr>
            <a:r>
              <a:rPr lang="en-US" sz="1100" dirty="0"/>
              <a:t>↳ No Diabetes median: 0 days </a:t>
            </a:r>
          </a:p>
          <a:p>
            <a:pPr marL="114300" indent="0">
              <a:buNone/>
            </a:pPr>
            <a:r>
              <a:rPr lang="en-US" sz="1100" dirty="0"/>
              <a:t>↳ Diabetes median: ~15 bad physical health days per month </a:t>
            </a:r>
          </a:p>
          <a:p>
            <a:pPr marL="114300" indent="0">
              <a:buNone/>
            </a:pPr>
            <a:r>
              <a:rPr lang="en-US" sz="1100" dirty="0"/>
              <a:t>↳ Strong differentiator between classes</a:t>
            </a:r>
          </a:p>
        </p:txBody>
      </p:sp>
    </p:spTree>
    <p:extLst>
      <p:ext uri="{BB962C8B-B14F-4D97-AF65-F5344CB8AC3E}">
        <p14:creationId xmlns:p14="http://schemas.microsoft.com/office/powerpoint/2010/main" val="3591233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616C1-751A-1B4A-BD94-E4CD24304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49751"/>
            <a:ext cx="8520600" cy="3843997"/>
          </a:xfrm>
        </p:spPr>
        <p:txBody>
          <a:bodyPr/>
          <a:lstStyle/>
          <a:p>
            <a:pPr marL="114300" indent="0">
              <a:buNone/>
            </a:pPr>
            <a:r>
              <a:rPr lang="en-US" i="0" dirty="0">
                <a:effectLst/>
                <a:latin typeface="system-ui"/>
              </a:rPr>
              <a:t>Numerical Features Distribution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 descr="A graph of distribution of bmi&#10;&#10;AI-generated content may be incorrect.">
            <a:extLst>
              <a:ext uri="{FF2B5EF4-FFF2-40B4-BE49-F238E27FC236}">
                <a16:creationId xmlns:a16="http://schemas.microsoft.com/office/drawing/2014/main" id="{447BF6F9-C2CF-883B-AD91-580759C87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93" y="1327868"/>
            <a:ext cx="3085824" cy="3165881"/>
          </a:xfrm>
          <a:prstGeom prst="rect">
            <a:avLst/>
          </a:prstGeom>
        </p:spPr>
      </p:pic>
      <p:pic>
        <p:nvPicPr>
          <p:cNvPr id="7" name="Picture 6" descr="A graph of a distribution of menthol&#10;&#10;AI-generated content may be incorrect.">
            <a:extLst>
              <a:ext uri="{FF2B5EF4-FFF2-40B4-BE49-F238E27FC236}">
                <a16:creationId xmlns:a16="http://schemas.microsoft.com/office/drawing/2014/main" id="{74DBD0D3-F6D3-CF1D-20AD-614376DE9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547" y="1343235"/>
            <a:ext cx="2880690" cy="3165881"/>
          </a:xfrm>
          <a:prstGeom prst="rect">
            <a:avLst/>
          </a:prstGeom>
        </p:spPr>
      </p:pic>
      <p:pic>
        <p:nvPicPr>
          <p:cNvPr id="9" name="Picture 8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A93571CA-4723-02C2-BE42-B4833D5F0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0518" y="1327867"/>
            <a:ext cx="2431500" cy="316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08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98157-8E49-2619-987D-3F1382FA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EDA — Correlation Heatmap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D497A-B44A-534B-58CB-F6E006C9A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100" dirty="0"/>
              <a:t>Top Positive Correlations with Diabetes 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GenHlth</a:t>
            </a:r>
            <a:r>
              <a:rPr lang="en-US" sz="1100" dirty="0"/>
              <a:t> → 0.30 (strongest predictor) 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HighBP</a:t>
            </a:r>
            <a:r>
              <a:rPr lang="en-US" sz="1100" dirty="0"/>
              <a:t> → 0.27 </a:t>
            </a:r>
          </a:p>
          <a:p>
            <a:pPr marL="114300" indent="0">
              <a:buNone/>
            </a:pPr>
            <a:r>
              <a:rPr lang="en-US" sz="1100" dirty="0"/>
              <a:t>↳ BMI → 0.22 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DiffWalk</a:t>
            </a:r>
            <a:r>
              <a:rPr lang="en-US" sz="1100" dirty="0"/>
              <a:t> → 0.22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HighChol</a:t>
            </a:r>
            <a:r>
              <a:rPr lang="en-US" sz="1100" dirty="0"/>
              <a:t> → 0.21 </a:t>
            </a:r>
          </a:p>
          <a:p>
            <a:pPr marL="114300" indent="0">
              <a:buNone/>
            </a:pPr>
            <a:r>
              <a:rPr lang="en-US" sz="1100" dirty="0"/>
              <a:t>↳ Age → 0.19 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HeartDisease</a:t>
            </a:r>
            <a:r>
              <a:rPr lang="en-US" sz="1100" dirty="0"/>
              <a:t> → 0.18 Negative Correlations (Protective Factors) </a:t>
            </a:r>
          </a:p>
          <a:p>
            <a:pPr marL="114300" indent="0">
              <a:buNone/>
            </a:pPr>
            <a:r>
              <a:rPr lang="en-US" sz="1100" dirty="0"/>
              <a:t>↳ Income → -0.17 ↳ Education → -0.13 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PhysActivity</a:t>
            </a:r>
            <a:r>
              <a:rPr lang="en-US" sz="1100" dirty="0"/>
              <a:t> → -0.12 Notable Feature Correlations 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GenHlth</a:t>
            </a:r>
            <a:r>
              <a:rPr lang="en-US" sz="1100" dirty="0"/>
              <a:t> &amp; </a:t>
            </a:r>
            <a:r>
              <a:rPr lang="en-US" sz="1100" dirty="0" err="1"/>
              <a:t>PhysHlth</a:t>
            </a:r>
            <a:r>
              <a:rPr lang="en-US" sz="1100" dirty="0"/>
              <a:t> → 0.52 </a:t>
            </a:r>
          </a:p>
          <a:p>
            <a:pPr marL="114300" indent="0">
              <a:buNone/>
            </a:pPr>
            <a:r>
              <a:rPr lang="en-US" sz="1100" dirty="0"/>
              <a:t>↳ Education &amp; Income → 0.45</a:t>
            </a:r>
          </a:p>
        </p:txBody>
      </p:sp>
      <p:pic>
        <p:nvPicPr>
          <p:cNvPr id="5" name="Picture 4" descr="A graph with red and blue squares&#10;&#10;AI-generated content may be incorrect.">
            <a:extLst>
              <a:ext uri="{FF2B5EF4-FFF2-40B4-BE49-F238E27FC236}">
                <a16:creationId xmlns:a16="http://schemas.microsoft.com/office/drawing/2014/main" id="{538216C7-3C27-79A7-A59A-04C6375C7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464" y="771277"/>
            <a:ext cx="4420926" cy="380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86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7FFD-602F-B06B-52A2-710E6B26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BE1AC-C4FF-9389-734A-6B34A9F19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100" dirty="0"/>
              <a:t>3 New Features Created</a:t>
            </a:r>
          </a:p>
          <a:p>
            <a:pPr marL="114300" indent="0">
              <a:buNone/>
            </a:pPr>
            <a:r>
              <a:rPr lang="en-US" sz="1100" dirty="0" err="1"/>
              <a:t>BMI_Category</a:t>
            </a: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Categorizes BMI into 4 groups using WHO standards</a:t>
            </a:r>
          </a:p>
          <a:p>
            <a:pPr marL="114300" indent="0">
              <a:buNone/>
            </a:pPr>
            <a:r>
              <a:rPr lang="en-US" sz="1100" dirty="0"/>
              <a:t>↳ 1=Underweight (&lt;18.5)  2=Normal (18.5-24.9)</a:t>
            </a:r>
          </a:p>
          <a:p>
            <a:pPr marL="114300" indent="0">
              <a:buNone/>
            </a:pPr>
            <a:r>
              <a:rPr lang="en-US" sz="1100" dirty="0"/>
              <a:t>   3=Overweight (25-29.9)  4=Obese (≥30)</a:t>
            </a:r>
          </a:p>
          <a:p>
            <a:pPr marL="114300" indent="0">
              <a:buNone/>
            </a:pPr>
            <a:r>
              <a:rPr lang="en-US" sz="1100" dirty="0"/>
              <a:t>↳ Correlation with target: 0.21</a:t>
            </a:r>
          </a:p>
          <a:p>
            <a:pPr marL="114300" indent="0">
              <a:buNone/>
            </a:pPr>
            <a:r>
              <a:rPr lang="en-US" sz="1100" dirty="0" err="1"/>
              <a:t>Health_Score</a:t>
            </a: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MentHlth</a:t>
            </a:r>
            <a:r>
              <a:rPr lang="en-US" sz="1100" dirty="0"/>
              <a:t> + </a:t>
            </a:r>
            <a:r>
              <a:rPr lang="en-US" sz="1100" dirty="0" err="1"/>
              <a:t>PhysHlth</a:t>
            </a: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Captures overall health burden</a:t>
            </a:r>
          </a:p>
          <a:p>
            <a:pPr marL="114300" indent="0">
              <a:buNone/>
            </a:pPr>
            <a:r>
              <a:rPr lang="en-US" sz="1100" dirty="0"/>
              <a:t>↳ Correlation with target: 0.16</a:t>
            </a:r>
          </a:p>
          <a:p>
            <a:pPr marL="114300" indent="0">
              <a:buNone/>
            </a:pPr>
            <a:r>
              <a:rPr lang="en-US" sz="1100" dirty="0" err="1"/>
              <a:t>Lifestyle_Risk</a:t>
            </a: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Smoker + </a:t>
            </a:r>
            <a:r>
              <a:rPr lang="en-US" sz="1100" dirty="0" err="1"/>
              <a:t>HvyAlcoholConsump</a:t>
            </a:r>
            <a:r>
              <a:rPr lang="en-US" sz="1100" dirty="0"/>
              <a:t> + (1 - </a:t>
            </a:r>
            <a:r>
              <a:rPr lang="en-US" sz="1100" dirty="0" err="1"/>
              <a:t>PhysActivity</a:t>
            </a:r>
            <a:r>
              <a:rPr lang="en-US" sz="1100" dirty="0"/>
              <a:t>)</a:t>
            </a:r>
          </a:p>
          <a:p>
            <a:pPr marL="114300" indent="0">
              <a:buNone/>
            </a:pPr>
            <a:r>
              <a:rPr lang="en-US" sz="1100" dirty="0"/>
              <a:t>↳ Higher score = unhealthier lifestyle</a:t>
            </a:r>
          </a:p>
          <a:p>
            <a:pPr marL="114300" indent="0">
              <a:buNone/>
            </a:pPr>
            <a:r>
              <a:rPr lang="en-US" sz="1100" dirty="0"/>
              <a:t>↳ Correlation with target: 0.10</a:t>
            </a:r>
          </a:p>
          <a:p>
            <a:pPr marL="114300" indent="0">
              <a:buNone/>
            </a:pPr>
            <a:r>
              <a:rPr lang="en-US" sz="1100" dirty="0"/>
              <a:t>Dataset shape: 22 features → 25 features after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4050209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F151-AEAE-25B5-C461-AE400007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CDD5A-AA65-D6F8-A7DC-0EE2112E8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000" dirty="0"/>
              <a:t>1. Feature Encoding</a:t>
            </a:r>
          </a:p>
          <a:p>
            <a:pPr marL="114300" indent="0">
              <a:buNone/>
            </a:pPr>
            <a:r>
              <a:rPr lang="en-US" sz="1000" dirty="0"/>
              <a:t>↳ Binary columns (Yes/No) → mapped to 1/0</a:t>
            </a:r>
          </a:p>
          <a:p>
            <a:pPr marL="114300" indent="0">
              <a:buNone/>
            </a:pPr>
            <a:r>
              <a:rPr lang="en-US" sz="1000" dirty="0"/>
              <a:t>↳ Sex → Male=1, Female=0</a:t>
            </a:r>
          </a:p>
          <a:p>
            <a:pPr marL="114300" indent="0">
              <a:buNone/>
            </a:pPr>
            <a:r>
              <a:rPr lang="en-US" sz="1000" dirty="0"/>
              <a:t>↳ </a:t>
            </a:r>
            <a:r>
              <a:rPr lang="en-US" sz="1000" dirty="0" err="1"/>
              <a:t>GenHlth</a:t>
            </a:r>
            <a:r>
              <a:rPr lang="en-US" sz="1000" dirty="0"/>
              <a:t> → Excellent=1 to Poor=5</a:t>
            </a:r>
          </a:p>
          <a:p>
            <a:pPr marL="114300" indent="0">
              <a:buNone/>
            </a:pPr>
            <a:r>
              <a:rPr lang="en-US" sz="1000" dirty="0"/>
              <a:t>↳ Age → 18-24=1 to 80+=13</a:t>
            </a:r>
          </a:p>
          <a:p>
            <a:pPr marL="114300" indent="0">
              <a:buNone/>
            </a:pPr>
            <a:r>
              <a:rPr lang="en-US" sz="1000" dirty="0"/>
              <a:t>↳ Education → 1-6, Income → 1-8</a:t>
            </a:r>
          </a:p>
          <a:p>
            <a:pPr marL="114300" indent="0">
              <a:buNone/>
            </a:pPr>
            <a:r>
              <a:rPr lang="en-US" sz="1000" dirty="0"/>
              <a:t>↳ Target → No Diabetes=0, Prediabetes=1, Diabetes=2</a:t>
            </a:r>
          </a:p>
          <a:p>
            <a:pPr marL="114300" indent="0">
              <a:buNone/>
            </a:pPr>
            <a:r>
              <a:rPr lang="en-US" sz="1000" dirty="0"/>
              <a:t>2. Train/Test Split</a:t>
            </a:r>
          </a:p>
          <a:p>
            <a:pPr marL="114300" indent="0">
              <a:buNone/>
            </a:pPr>
            <a:r>
              <a:rPr lang="en-US" sz="1000" dirty="0"/>
              <a:t>↳ 80% Training | 20% Testing</a:t>
            </a:r>
          </a:p>
          <a:p>
            <a:pPr marL="114300" indent="0">
              <a:buNone/>
            </a:pPr>
            <a:r>
              <a:rPr lang="en-US" sz="1000" dirty="0"/>
              <a:t>↳ Stratified split to preserve class distribution</a:t>
            </a:r>
          </a:p>
          <a:p>
            <a:pPr marL="114300" indent="0">
              <a:buNone/>
            </a:pPr>
            <a:r>
              <a:rPr lang="en-US" sz="1000" dirty="0"/>
              <a:t>3. SMOTE — Handling Class Imbalance</a:t>
            </a:r>
          </a:p>
          <a:p>
            <a:pPr marL="114300" indent="0">
              <a:buNone/>
            </a:pPr>
            <a:r>
              <a:rPr lang="en-US" sz="1000" dirty="0"/>
              <a:t>↳ Applied only on training data</a:t>
            </a:r>
          </a:p>
          <a:p>
            <a:pPr marL="114300" indent="0">
              <a:buNone/>
            </a:pPr>
            <a:r>
              <a:rPr lang="en-US" sz="1000" dirty="0"/>
              <a:t>↳ Before: 0=170,962 | 1=3,705 | 2=28,277</a:t>
            </a:r>
          </a:p>
          <a:p>
            <a:pPr marL="114300" indent="0">
              <a:buNone/>
            </a:pPr>
            <a:r>
              <a:rPr lang="en-US" sz="1000" dirty="0"/>
              <a:t>↳ After:  0=170,962 | 1=170,962 | 2=170,962</a:t>
            </a:r>
          </a:p>
          <a:p>
            <a:pPr marL="114300" indent="0">
              <a:buNone/>
            </a:pPr>
            <a:r>
              <a:rPr lang="en-US" sz="1000" dirty="0"/>
              <a:t>↳ Total training samples: 202,944 → 512,886</a:t>
            </a:r>
          </a:p>
          <a:p>
            <a:pPr marL="114300" indent="0">
              <a:buNone/>
            </a:pPr>
            <a:r>
              <a:rPr lang="en-US" sz="1000" dirty="0"/>
              <a:t>4. Feature Scaling — </a:t>
            </a:r>
            <a:r>
              <a:rPr lang="en-US" sz="1000" dirty="0" err="1"/>
              <a:t>StandardScaler</a:t>
            </a:r>
            <a:endParaRPr lang="en-US" sz="1000" dirty="0"/>
          </a:p>
          <a:p>
            <a:pPr marL="114300" indent="0">
              <a:buNone/>
            </a:pPr>
            <a:r>
              <a:rPr lang="en-US" sz="1000" dirty="0"/>
              <a:t>↳ Mean = 0, Standard Deviation = 1</a:t>
            </a:r>
          </a:p>
          <a:p>
            <a:pPr marL="114300" indent="0">
              <a:buNone/>
            </a:pPr>
            <a:r>
              <a:rPr lang="en-US" sz="1000" dirty="0"/>
              <a:t>↳ Ensures all features treated fairly</a:t>
            </a:r>
          </a:p>
          <a:p>
            <a:pPr marL="114300" indent="0">
              <a:buNone/>
            </a:pPr>
            <a:r>
              <a:rPr lang="en-US" sz="1000" dirty="0"/>
              <a:t>↳ No data leakage confirmed</a:t>
            </a:r>
          </a:p>
        </p:txBody>
      </p:sp>
    </p:spTree>
    <p:extLst>
      <p:ext uri="{BB962C8B-B14F-4D97-AF65-F5344CB8AC3E}">
        <p14:creationId xmlns:p14="http://schemas.microsoft.com/office/powerpoint/2010/main" val="1783929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243E-C195-277C-4F08-6F1BA4BE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&amp;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42858-4649-8498-E17F-B31D0A702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100" dirty="0"/>
              <a:t>3 Models Trained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Logistic Regression</a:t>
            </a:r>
          </a:p>
          <a:p>
            <a:pPr marL="114300" indent="0">
              <a:buNone/>
            </a:pPr>
            <a:r>
              <a:rPr lang="en-US" sz="1100" dirty="0"/>
              <a:t>↳ Baseline linear model</a:t>
            </a:r>
          </a:p>
          <a:p>
            <a:pPr marL="114300" indent="0">
              <a:buNone/>
            </a:pPr>
            <a:r>
              <a:rPr lang="en-US" sz="1100" dirty="0"/>
              <a:t>↳ Training: 56.5% | Testing: 66.1%</a:t>
            </a:r>
          </a:p>
          <a:p>
            <a:pPr marL="114300" indent="0">
              <a:buNone/>
            </a:pPr>
            <a:r>
              <a:rPr lang="en-US" sz="1100" dirty="0"/>
              <a:t>↳ Underfitting — too simple for this dataset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Random Forest</a:t>
            </a:r>
          </a:p>
          <a:p>
            <a:pPr marL="114300" indent="0">
              <a:buNone/>
            </a:pPr>
            <a:r>
              <a:rPr lang="en-US" sz="1100" dirty="0"/>
              <a:t>↳ 100 decision trees</a:t>
            </a:r>
          </a:p>
          <a:p>
            <a:pPr marL="114300" indent="0">
              <a:buNone/>
            </a:pPr>
            <a:r>
              <a:rPr lang="en-US" sz="1100" dirty="0"/>
              <a:t>↳ Training: 99.2% | Testing: 78.3%</a:t>
            </a:r>
          </a:p>
          <a:p>
            <a:pPr marL="114300" indent="0">
              <a:buNone/>
            </a:pPr>
            <a:r>
              <a:rPr lang="en-US" sz="1100" dirty="0"/>
              <a:t>↳ Overfitting — large gap between train and test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 err="1"/>
              <a:t>XGBoost</a:t>
            </a:r>
            <a:r>
              <a:rPr lang="en-US" sz="1100" dirty="0"/>
              <a:t> ✓ Best Model</a:t>
            </a:r>
          </a:p>
          <a:p>
            <a:pPr marL="114300" indent="0">
              <a:buNone/>
            </a:pPr>
            <a:r>
              <a:rPr lang="en-US" sz="1100" dirty="0"/>
              <a:t>↳ Gradient boosting — sequential tree building</a:t>
            </a:r>
          </a:p>
          <a:p>
            <a:pPr marL="114300" indent="0">
              <a:buNone/>
            </a:pPr>
            <a:r>
              <a:rPr lang="en-US" sz="1100" dirty="0"/>
              <a:t>↳ Training: 73.9% | Testing: 74.8%</a:t>
            </a:r>
          </a:p>
          <a:p>
            <a:pPr marL="114300" indent="0">
              <a:buNone/>
            </a:pPr>
            <a:r>
              <a:rPr lang="en-US" sz="1100" dirty="0"/>
              <a:t>↳ Most balanced — no overfitting</a:t>
            </a:r>
          </a:p>
        </p:txBody>
      </p:sp>
    </p:spTree>
    <p:extLst>
      <p:ext uri="{BB962C8B-B14F-4D97-AF65-F5344CB8AC3E}">
        <p14:creationId xmlns:p14="http://schemas.microsoft.com/office/powerpoint/2010/main" val="519787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9570-1D86-8769-D0F4-8080733D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A0836-547A-CB70-51FC-6E42E692B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2450"/>
            <a:ext cx="8520600" cy="3786872"/>
          </a:xfrm>
        </p:spPr>
        <p:txBody>
          <a:bodyPr/>
          <a:lstStyle/>
          <a:p>
            <a:pPr marL="114300" indent="0">
              <a:buNone/>
            </a:pPr>
            <a:r>
              <a:rPr lang="en-US" sz="1100" dirty="0"/>
              <a:t>Key Metrics Explained</a:t>
            </a:r>
          </a:p>
          <a:p>
            <a:pPr marL="114300" indent="0">
              <a:buNone/>
            </a:pPr>
            <a:r>
              <a:rPr lang="en-US" sz="1100" dirty="0"/>
              <a:t>↳ Precision: Of all predicted positives how many were correct</a:t>
            </a:r>
          </a:p>
          <a:p>
            <a:pPr marL="114300" indent="0">
              <a:buNone/>
            </a:pPr>
            <a:r>
              <a:rPr lang="en-US" sz="1100" dirty="0"/>
              <a:t>↳ Recall: Of all actual positives how many were detected</a:t>
            </a:r>
          </a:p>
          <a:p>
            <a:pPr marL="114300" indent="0">
              <a:buNone/>
            </a:pPr>
            <a:r>
              <a:rPr lang="en-US" sz="1100" dirty="0"/>
              <a:t>↳ F1-Score: Balance between precision and recall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 err="1"/>
              <a:t>XGBoost</a:t>
            </a:r>
            <a:r>
              <a:rPr lang="en-US" sz="1100" dirty="0"/>
              <a:t> — Best Model</a:t>
            </a:r>
          </a:p>
          <a:p>
            <a:pPr marL="114300" indent="0">
              <a:buNone/>
            </a:pPr>
            <a:r>
              <a:rPr lang="en-US" sz="1100" dirty="0"/>
              <a:t>↳ No Diabetes  F1: 0.85 ✓</a:t>
            </a:r>
          </a:p>
          <a:p>
            <a:pPr marL="114300" indent="0">
              <a:buNone/>
            </a:pPr>
            <a:r>
              <a:rPr lang="en-US" sz="1100" dirty="0"/>
              <a:t>↳ Prediabetes  F1: 0.03 ✗</a:t>
            </a:r>
          </a:p>
          <a:p>
            <a:pPr marL="114300" indent="0">
              <a:buNone/>
            </a:pPr>
            <a:r>
              <a:rPr lang="en-US" sz="1100" dirty="0"/>
              <a:t>↳ Diabetes     F1: 0.42</a:t>
            </a:r>
          </a:p>
          <a:p>
            <a:pPr marL="114300" indent="0">
              <a:buNone/>
            </a:pPr>
            <a:r>
              <a:rPr lang="en-US" sz="1100" dirty="0"/>
              <a:t>↳ Overall Accuracy: 75%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Key Challenge — Prediabetes</a:t>
            </a:r>
          </a:p>
          <a:p>
            <a:pPr marL="114300" indent="0">
              <a:buNone/>
            </a:pPr>
            <a:r>
              <a:rPr lang="en-US" sz="1100" dirty="0"/>
              <a:t>↳ All models struggle with Prediabetes class</a:t>
            </a:r>
          </a:p>
          <a:p>
            <a:pPr marL="114300" indent="0">
              <a:buNone/>
            </a:pPr>
            <a:r>
              <a:rPr lang="en-US" sz="1100" dirty="0"/>
              <a:t>↳ Only 926 test samples vs 42,741 No Diabetes</a:t>
            </a:r>
          </a:p>
          <a:p>
            <a:pPr marL="114300" indent="0">
              <a:buNone/>
            </a:pPr>
            <a:r>
              <a:rPr lang="en-US" sz="1100" dirty="0"/>
              <a:t>↳ Real world challenge — prediabetes often undiagnosed</a:t>
            </a:r>
          </a:p>
          <a:p>
            <a:pPr marL="114300" indent="0">
              <a:buNone/>
            </a:pPr>
            <a:r>
              <a:rPr lang="en-US" sz="1100" dirty="0"/>
              <a:t>↳ Future work: cost-sensitive learning</a:t>
            </a:r>
          </a:p>
        </p:txBody>
      </p:sp>
      <p:pic>
        <p:nvPicPr>
          <p:cNvPr id="5" name="Picture 4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E24D77FB-EBD6-8B14-8451-427676439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266" y="1222450"/>
            <a:ext cx="2334098" cy="1846753"/>
          </a:xfrm>
          <a:prstGeom prst="rect">
            <a:avLst/>
          </a:prstGeom>
        </p:spPr>
      </p:pic>
      <p:pic>
        <p:nvPicPr>
          <p:cNvPr id="7" name="Picture 6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D0927D9B-E8EE-AAD1-C027-55762DBDB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1" y="1222450"/>
            <a:ext cx="2204498" cy="1846753"/>
          </a:xfrm>
          <a:prstGeom prst="rect">
            <a:avLst/>
          </a:prstGeom>
        </p:spPr>
      </p:pic>
      <p:pic>
        <p:nvPicPr>
          <p:cNvPr id="9" name="Picture 8" descr="A blue and white squares with numbers&#10;&#10;AI-generated content may be incorrect.">
            <a:extLst>
              <a:ext uri="{FF2B5EF4-FFF2-40B4-BE49-F238E27FC236}">
                <a16:creationId xmlns:a16="http://schemas.microsoft.com/office/drawing/2014/main" id="{06180748-1514-2422-C04E-D3F2C013E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0152" y="3069203"/>
            <a:ext cx="2918130" cy="194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551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C4AF-F4AC-01C1-3C2A-DB8818CEC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49750"/>
            <a:ext cx="8520600" cy="572700"/>
          </a:xfrm>
        </p:spPr>
        <p:txBody>
          <a:bodyPr/>
          <a:lstStyle/>
          <a:p>
            <a:r>
              <a:rPr lang="en-US" dirty="0"/>
              <a:t>ROC Curve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25114-4D40-403F-9B08-DFD0B8F35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100" dirty="0"/>
              <a:t>What is ROC Curve?</a:t>
            </a:r>
          </a:p>
          <a:p>
            <a:pPr marL="114300" indent="0">
              <a:buNone/>
            </a:pPr>
            <a:r>
              <a:rPr lang="en-US" sz="1100" dirty="0"/>
              <a:t>↳ Shows how well model distinguishes between classes</a:t>
            </a:r>
          </a:p>
          <a:p>
            <a:pPr marL="114300" indent="0">
              <a:buNone/>
            </a:pPr>
            <a:r>
              <a:rPr lang="en-US" sz="1100" dirty="0"/>
              <a:t>↳ AUC closer to 1.0 = better performance</a:t>
            </a:r>
          </a:p>
          <a:p>
            <a:pPr marL="114300" indent="0">
              <a:buNone/>
            </a:pPr>
            <a:r>
              <a:rPr lang="en-US" sz="1100" dirty="0"/>
              <a:t>↳ AUC = 0.50 = random guessing</a:t>
            </a:r>
          </a:p>
          <a:p>
            <a:pPr marL="114300" indent="0">
              <a:buNone/>
            </a:pPr>
            <a:r>
              <a:rPr lang="en-US" sz="1100" dirty="0"/>
              <a:t>Results</a:t>
            </a:r>
          </a:p>
          <a:p>
            <a:pPr marL="114300" indent="0">
              <a:buNone/>
            </a:pPr>
            <a:r>
              <a:rPr lang="en-US" sz="1100" dirty="0"/>
              <a:t>Logistic Regression</a:t>
            </a:r>
          </a:p>
          <a:p>
            <a:pPr marL="114300" indent="0">
              <a:buNone/>
            </a:pPr>
            <a:r>
              <a:rPr lang="en-US" sz="1100" dirty="0"/>
              <a:t>↳ No Diabetes AUC: 0.74</a:t>
            </a:r>
          </a:p>
          <a:p>
            <a:pPr marL="114300" indent="0">
              <a:buNone/>
            </a:pPr>
            <a:r>
              <a:rPr lang="en-US" sz="1100" dirty="0"/>
              <a:t>↳ Prediabetes AUC: 0.54</a:t>
            </a:r>
          </a:p>
          <a:p>
            <a:pPr marL="114300" indent="0">
              <a:buNone/>
            </a:pPr>
            <a:r>
              <a:rPr lang="en-US" sz="1100" dirty="0"/>
              <a:t>↳ Diabetes AUC:    0.81</a:t>
            </a:r>
          </a:p>
          <a:p>
            <a:pPr marL="114300" indent="0">
              <a:buNone/>
            </a:pPr>
            <a:r>
              <a:rPr lang="en-US" sz="1100" dirty="0"/>
              <a:t>Random Forest</a:t>
            </a:r>
          </a:p>
          <a:p>
            <a:pPr marL="114300" indent="0">
              <a:buNone/>
            </a:pPr>
            <a:r>
              <a:rPr lang="en-US" sz="1100" dirty="0"/>
              <a:t>↳ No Diabetes AUC: 0.76</a:t>
            </a:r>
          </a:p>
          <a:p>
            <a:pPr marL="114300" indent="0">
              <a:buNone/>
            </a:pPr>
            <a:r>
              <a:rPr lang="en-US" sz="1100" dirty="0"/>
              <a:t>↳ Prediabetes AUC: 0.61</a:t>
            </a:r>
          </a:p>
          <a:p>
            <a:pPr marL="114300" indent="0">
              <a:buNone/>
            </a:pPr>
            <a:r>
              <a:rPr lang="en-US" sz="1100" dirty="0"/>
              <a:t>↳ Diabetes AUC:    0.78</a:t>
            </a:r>
          </a:p>
          <a:p>
            <a:pPr marL="114300" indent="0">
              <a:buNone/>
            </a:pPr>
            <a:r>
              <a:rPr lang="en-US" sz="1100" dirty="0" err="1"/>
              <a:t>XGBoost</a:t>
            </a:r>
            <a:r>
              <a:rPr lang="en-US" sz="1100" dirty="0"/>
              <a:t> ✓</a:t>
            </a:r>
          </a:p>
          <a:p>
            <a:pPr marL="114300" indent="0">
              <a:buNone/>
            </a:pPr>
            <a:r>
              <a:rPr lang="en-US" sz="1100" dirty="0"/>
              <a:t>↳ No Diabetes AUC: 0.75</a:t>
            </a:r>
          </a:p>
          <a:p>
            <a:pPr marL="114300" indent="0">
              <a:buNone/>
            </a:pPr>
            <a:r>
              <a:rPr lang="en-US" sz="1100" dirty="0"/>
              <a:t>↳ Prediabetes AUC: 0.57</a:t>
            </a:r>
          </a:p>
          <a:p>
            <a:pPr marL="114300" indent="0">
              <a:buNone/>
            </a:pPr>
            <a:r>
              <a:rPr lang="en-US" sz="1100" dirty="0"/>
              <a:t>↳ Diabetes AUC:    0.80</a:t>
            </a:r>
          </a:p>
        </p:txBody>
      </p:sp>
      <p:pic>
        <p:nvPicPr>
          <p:cNvPr id="5" name="Picture 4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D132A292-51D8-E6E1-B6A7-2F9CBAA67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750" y="1314450"/>
            <a:ext cx="2623930" cy="1897877"/>
          </a:xfrm>
          <a:prstGeom prst="rect">
            <a:avLst/>
          </a:prstGeom>
        </p:spPr>
      </p:pic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23705E8-A839-9D8E-8C14-7715C2327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1314450"/>
            <a:ext cx="2472857" cy="1953536"/>
          </a:xfrm>
          <a:prstGeom prst="rect">
            <a:avLst/>
          </a:prstGeom>
        </p:spPr>
      </p:pic>
      <p:pic>
        <p:nvPicPr>
          <p:cNvPr id="9" name="Picture 8" descr="A graph of a normalized curve&#10;&#10;AI-generated content may be incorrect.">
            <a:extLst>
              <a:ext uri="{FF2B5EF4-FFF2-40B4-BE49-F238E27FC236}">
                <a16:creationId xmlns:a16="http://schemas.microsoft.com/office/drawing/2014/main" id="{2690ABF2-6B1A-41DB-D03B-D62707731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763" y="3212326"/>
            <a:ext cx="2345635" cy="183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70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BB69C-F4FA-0059-79C2-2B08C2D7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 &amp; SHAP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88AF4-1D97-1354-B3DA-24B5AEA76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2449"/>
            <a:ext cx="8520600" cy="3770969"/>
          </a:xfrm>
        </p:spPr>
        <p:txBody>
          <a:bodyPr/>
          <a:lstStyle/>
          <a:p>
            <a:pPr marL="114300" indent="0">
              <a:buNone/>
            </a:pPr>
            <a:r>
              <a:rPr lang="en-US" sz="1000" dirty="0"/>
              <a:t>Random Forest Feature Importance</a:t>
            </a:r>
          </a:p>
          <a:p>
            <a:pPr marL="114300" indent="0">
              <a:buNone/>
            </a:pPr>
            <a:r>
              <a:rPr lang="en-US" sz="1000" dirty="0"/>
              <a:t>↳ BMI — strongest predictor</a:t>
            </a:r>
          </a:p>
          <a:p>
            <a:pPr marL="114300" indent="0">
              <a:buNone/>
            </a:pPr>
            <a:r>
              <a:rPr lang="en-US" sz="1000" dirty="0"/>
              <a:t>↳ Age and Income follow</a:t>
            </a:r>
          </a:p>
          <a:p>
            <a:pPr marL="114300" indent="0">
              <a:buNone/>
            </a:pPr>
            <a:r>
              <a:rPr lang="en-US" sz="1000" dirty="0"/>
              <a:t>↳ </a:t>
            </a:r>
            <a:r>
              <a:rPr lang="en-US" sz="1000" dirty="0" err="1"/>
              <a:t>Health_Score</a:t>
            </a:r>
            <a:r>
              <a:rPr lang="en-US" sz="1000" dirty="0"/>
              <a:t> ranks 4th (engineered feature)</a:t>
            </a:r>
          </a:p>
          <a:p>
            <a:pPr marL="114300" indent="0">
              <a:buNone/>
            </a:pPr>
            <a:r>
              <a:rPr lang="en-US" sz="1000" dirty="0"/>
              <a:t>↳ </a:t>
            </a:r>
            <a:r>
              <a:rPr lang="en-US" sz="1000" dirty="0" err="1"/>
              <a:t>GenHlth</a:t>
            </a:r>
            <a:r>
              <a:rPr lang="en-US" sz="1000" dirty="0"/>
              <a:t>, </a:t>
            </a:r>
            <a:r>
              <a:rPr lang="en-US" sz="1000" dirty="0" err="1"/>
              <a:t>PhysHlth</a:t>
            </a:r>
            <a:r>
              <a:rPr lang="en-US" sz="1000" dirty="0"/>
              <a:t>, Education also important</a:t>
            </a:r>
          </a:p>
          <a:p>
            <a:pPr marL="114300" indent="0">
              <a:buNone/>
            </a:pPr>
            <a:r>
              <a:rPr lang="en-US" sz="1000" dirty="0" err="1"/>
              <a:t>XGBoost</a:t>
            </a:r>
            <a:r>
              <a:rPr lang="en-US" sz="1000" dirty="0"/>
              <a:t> Feature Importance</a:t>
            </a:r>
          </a:p>
          <a:p>
            <a:pPr marL="114300" indent="0">
              <a:buNone/>
            </a:pPr>
            <a:r>
              <a:rPr lang="en-US" sz="1000" dirty="0"/>
              <a:t>↳ </a:t>
            </a:r>
            <a:r>
              <a:rPr lang="en-US" sz="1000" dirty="0" err="1"/>
              <a:t>HvyAlcoholConsump</a:t>
            </a:r>
            <a:r>
              <a:rPr lang="en-US" sz="1000" dirty="0"/>
              <a:t> ranks 1st (misleading)</a:t>
            </a:r>
          </a:p>
          <a:p>
            <a:pPr marL="114300" indent="0">
              <a:buNone/>
            </a:pPr>
            <a:r>
              <a:rPr lang="en-US" sz="1000" dirty="0"/>
              <a:t>↳ Standard feature importance measures split frequency</a:t>
            </a:r>
          </a:p>
          <a:p>
            <a:pPr marL="114300" indent="0">
              <a:buNone/>
            </a:pPr>
            <a:r>
              <a:rPr lang="en-US" sz="1000" dirty="0"/>
              <a:t>↳ Not always clinically meaningful</a:t>
            </a:r>
          </a:p>
          <a:p>
            <a:pPr marL="114300" indent="0">
              <a:buNone/>
            </a:pPr>
            <a:r>
              <a:rPr lang="en-US" sz="1000" dirty="0"/>
              <a:t>SHAP Analysis — More Reliable</a:t>
            </a:r>
          </a:p>
          <a:p>
            <a:pPr marL="114300" indent="0">
              <a:buNone/>
            </a:pPr>
            <a:r>
              <a:rPr lang="en-US" sz="1000" dirty="0"/>
              <a:t>↳ </a:t>
            </a:r>
            <a:r>
              <a:rPr lang="en-US" sz="1000" dirty="0" err="1"/>
              <a:t>GenHlth</a:t>
            </a:r>
            <a:r>
              <a:rPr lang="en-US" sz="1000" dirty="0"/>
              <a:t>  — strongest predictor</a:t>
            </a:r>
          </a:p>
          <a:p>
            <a:pPr marL="114300" indent="0">
              <a:buNone/>
            </a:pPr>
            <a:r>
              <a:rPr lang="en-US" sz="1000" dirty="0"/>
              <a:t>↳ </a:t>
            </a:r>
            <a:r>
              <a:rPr lang="en-US" sz="1000" dirty="0" err="1"/>
              <a:t>HighBP</a:t>
            </a:r>
            <a:r>
              <a:rPr lang="en-US" sz="1000" dirty="0"/>
              <a:t>   — second most important</a:t>
            </a:r>
          </a:p>
          <a:p>
            <a:pPr marL="114300" indent="0">
              <a:buNone/>
            </a:pPr>
            <a:r>
              <a:rPr lang="en-US" sz="1000" dirty="0"/>
              <a:t>↳ Age      — third</a:t>
            </a:r>
          </a:p>
          <a:p>
            <a:pPr marL="114300" indent="0">
              <a:buNone/>
            </a:pPr>
            <a:r>
              <a:rPr lang="en-US" sz="1000" dirty="0"/>
              <a:t>↳ BMI      — fourth</a:t>
            </a:r>
          </a:p>
          <a:p>
            <a:pPr marL="114300" indent="0">
              <a:buNone/>
            </a:pPr>
            <a:r>
              <a:rPr lang="en-US" sz="1000" dirty="0"/>
              <a:t>↳ </a:t>
            </a:r>
            <a:r>
              <a:rPr lang="en-US" sz="1000" dirty="0" err="1"/>
              <a:t>BMI_Category</a:t>
            </a:r>
            <a:r>
              <a:rPr lang="en-US" sz="1000" dirty="0"/>
              <a:t> (engineered) — top 10</a:t>
            </a:r>
          </a:p>
          <a:p>
            <a:pPr marL="114300" indent="0">
              <a:buNone/>
            </a:pPr>
            <a:r>
              <a:rPr lang="en-US" sz="1000" dirty="0"/>
              <a:t>↳ </a:t>
            </a:r>
            <a:r>
              <a:rPr lang="en-US" sz="1000" dirty="0" err="1"/>
              <a:t>Health_Score</a:t>
            </a:r>
            <a:r>
              <a:rPr lang="en-US" sz="1000" dirty="0"/>
              <a:t> (engineered) — top 10</a:t>
            </a:r>
          </a:p>
          <a:p>
            <a:pPr marL="114300" indent="0">
              <a:buNone/>
            </a:pPr>
            <a:r>
              <a:rPr lang="en-US" sz="1000" dirty="0"/>
              <a:t>Key Takeaway</a:t>
            </a:r>
          </a:p>
          <a:p>
            <a:pPr marL="114300" indent="0">
              <a:buNone/>
            </a:pPr>
            <a:r>
              <a:rPr lang="en-US" sz="1000" dirty="0"/>
              <a:t>↳ SHAP confirms clinical knowledge</a:t>
            </a:r>
          </a:p>
          <a:p>
            <a:pPr marL="114300" indent="0">
              <a:buNone/>
            </a:pPr>
            <a:r>
              <a:rPr lang="en-US" sz="1000" dirty="0"/>
              <a:t>↳ Engineered features added real value</a:t>
            </a:r>
          </a:p>
          <a:p>
            <a:pPr marL="114300" indent="0">
              <a:buNone/>
            </a:pPr>
            <a:r>
              <a:rPr lang="en-US" sz="1000" dirty="0"/>
              <a:t>↳ </a:t>
            </a:r>
            <a:r>
              <a:rPr lang="en-US" sz="1000" dirty="0" err="1"/>
              <a:t>HvyAlcoholConsump</a:t>
            </a:r>
            <a:r>
              <a:rPr lang="en-US" sz="1000" dirty="0"/>
              <a:t> drops significantly in SHAP</a:t>
            </a:r>
          </a:p>
          <a:p>
            <a:pPr marL="114300" indent="0">
              <a:buNone/>
            </a:pPr>
            <a:r>
              <a:rPr lang="en-US" sz="1000" dirty="0"/>
              <a:t>   confirming standard importance was misleading</a:t>
            </a:r>
          </a:p>
        </p:txBody>
      </p:sp>
      <p:pic>
        <p:nvPicPr>
          <p:cNvPr id="5" name="Picture 4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A6EC2C1F-A841-EA13-C431-9E1560B20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551" y="1137036"/>
            <a:ext cx="2870421" cy="3180522"/>
          </a:xfrm>
          <a:prstGeom prst="rect">
            <a:avLst/>
          </a:prstGeom>
        </p:spPr>
      </p:pic>
      <p:pic>
        <p:nvPicPr>
          <p:cNvPr id="7" name="Picture 6" descr="A graph with blue squares&#10;&#10;AI-generated content may be incorrect.">
            <a:extLst>
              <a:ext uri="{FF2B5EF4-FFF2-40B4-BE49-F238E27FC236}">
                <a16:creationId xmlns:a16="http://schemas.microsoft.com/office/drawing/2014/main" id="{D516473F-3B5A-08FC-AC74-CA4257470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972" y="1222448"/>
            <a:ext cx="2512612" cy="309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41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FD69F-69F1-CE0E-5D75-F4FB232C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64BC5-1248-BA3B-5515-AFEB6E676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100" dirty="0"/>
              <a:t>5-Fold Cross Validation Results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Logistic Regression</a:t>
            </a:r>
          </a:p>
          <a:p>
            <a:pPr marL="114300" indent="0">
              <a:buNone/>
            </a:pPr>
            <a:r>
              <a:rPr lang="en-US" sz="1100" dirty="0"/>
              <a:t>↳ CV Mean: 56.09%  |  Std: ±0.30%  |  Consistent but underfitting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Random Forest</a:t>
            </a:r>
          </a:p>
          <a:p>
            <a:pPr marL="114300" indent="0">
              <a:buNone/>
            </a:pPr>
            <a:r>
              <a:rPr lang="en-US" sz="1100" dirty="0"/>
              <a:t>↳ CV Mean: 90.64%  |  Std: ±3.36%  |  High variance — overfitting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 err="1"/>
              <a:t>XGBoost</a:t>
            </a:r>
            <a:r>
              <a:rPr lang="en-US" sz="1100" dirty="0"/>
              <a:t> ✓</a:t>
            </a:r>
          </a:p>
          <a:p>
            <a:pPr marL="114300" indent="0">
              <a:buNone/>
            </a:pPr>
            <a:r>
              <a:rPr lang="en-US" sz="1100" dirty="0"/>
              <a:t>↳ CV Mean: 72.11%  |  Std: ±3.59%  |  Most stable and reliable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Key Takeaway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XGBoost</a:t>
            </a:r>
            <a:r>
              <a:rPr lang="en-US" sz="1100" dirty="0"/>
              <a:t> CV accuracy (72%) is close to test accuracy (74.8%)</a:t>
            </a:r>
          </a:p>
          <a:p>
            <a:pPr marL="114300" indent="0">
              <a:buNone/>
            </a:pPr>
            <a:r>
              <a:rPr lang="en-US" sz="1100" dirty="0"/>
              <a:t>↳ Confirms model generalizes well on unseen data</a:t>
            </a:r>
          </a:p>
          <a:p>
            <a:pPr marL="114300" indent="0">
              <a:buNone/>
            </a:pPr>
            <a:r>
              <a:rPr lang="en-US" sz="1100" dirty="0"/>
              <a:t>↳ Random Forest high std confirms it memorized training data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XGBoost</a:t>
            </a:r>
            <a:r>
              <a:rPr lang="en-US" sz="1100" dirty="0"/>
              <a:t> is our final chosen model</a:t>
            </a:r>
          </a:p>
        </p:txBody>
      </p:sp>
    </p:spTree>
    <p:extLst>
      <p:ext uri="{BB962C8B-B14F-4D97-AF65-F5344CB8AC3E}">
        <p14:creationId xmlns:p14="http://schemas.microsoft.com/office/powerpoint/2010/main" val="2601496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EDF8B-711D-EBBF-C844-FC895D134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Streamlit</a:t>
            </a:r>
            <a:r>
              <a:rPr lang="en-US" dirty="0"/>
              <a:t> Web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98B23-974D-0588-19D8-6F9EC4404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100" dirty="0"/>
              <a:t>Live App</a:t>
            </a:r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b="0" i="0" u="sng" dirty="0">
                <a:solidFill>
                  <a:srgbClr val="0969DA"/>
                </a:solidFill>
                <a:effectLst/>
                <a:latin typeface="Mona Sans VF"/>
                <a:hlinkClick r:id="rId2"/>
              </a:rPr>
              <a:t>Click here to open the app</a:t>
            </a:r>
            <a:endParaRPr lang="en-US" sz="1100" dirty="0"/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Features</a:t>
            </a:r>
          </a:p>
          <a:p>
            <a:pPr marL="114300" indent="0">
              <a:buNone/>
            </a:pPr>
            <a:r>
              <a:rPr lang="en-US" sz="1100" dirty="0"/>
              <a:t>↳ BMI Calculator — auto calculates from weight and height</a:t>
            </a:r>
          </a:p>
          <a:p>
            <a:pPr marL="114300" indent="0">
              <a:buNone/>
            </a:pPr>
            <a:r>
              <a:rPr lang="en-US" sz="1100" dirty="0"/>
              <a:t>↳ Clinical Indicators input form</a:t>
            </a:r>
          </a:p>
          <a:p>
            <a:pPr marL="114300" indent="0">
              <a:buNone/>
            </a:pPr>
            <a:r>
              <a:rPr lang="en-US" sz="1100" dirty="0"/>
              <a:t>↳ Lifestyle Factors input form  </a:t>
            </a:r>
          </a:p>
          <a:p>
            <a:pPr marL="114300" indent="0">
              <a:buNone/>
            </a:pPr>
            <a:r>
              <a:rPr lang="en-US" sz="1100" dirty="0"/>
              <a:t>↳ Demographics input form</a:t>
            </a:r>
          </a:p>
          <a:p>
            <a:pPr marL="114300" indent="0">
              <a:buNone/>
            </a:pPr>
            <a:r>
              <a:rPr lang="en-US" sz="1100" dirty="0"/>
              <a:t>↳ Predicts No Diabetes, Prediabetes or Diabetes</a:t>
            </a:r>
          </a:p>
          <a:p>
            <a:pPr marL="114300" indent="0">
              <a:buNone/>
            </a:pPr>
            <a:r>
              <a:rPr lang="en-US" sz="1100" dirty="0"/>
              <a:t>↳ Shows confidence score for prediction</a:t>
            </a:r>
          </a:p>
          <a:p>
            <a:pPr marL="114300" indent="0">
              <a:buNone/>
            </a:pPr>
            <a:r>
              <a:rPr lang="en-US" sz="1100" dirty="0"/>
              <a:t>↳ Personalized health recommendations</a:t>
            </a:r>
          </a:p>
          <a:p>
            <a:pPr marL="114300" indent="0">
              <a:buNone/>
            </a:pPr>
            <a:r>
              <a:rPr lang="en-US" sz="1100" dirty="0"/>
              <a:t>↳ Risk Factor Summary — BMI, Health Score, Lifestyle Risk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Tech Stack</a:t>
            </a:r>
          </a:p>
          <a:p>
            <a:pPr marL="114300" indent="0">
              <a:buNone/>
            </a:pPr>
            <a:r>
              <a:rPr lang="en-US" sz="1100" dirty="0"/>
              <a:t>↳ Python | </a:t>
            </a:r>
            <a:r>
              <a:rPr lang="en-US" sz="1100" dirty="0" err="1"/>
              <a:t>Streamlit</a:t>
            </a:r>
            <a:r>
              <a:rPr lang="en-US" sz="1100" dirty="0"/>
              <a:t> | </a:t>
            </a:r>
            <a:r>
              <a:rPr lang="en-US" sz="1100" dirty="0" err="1"/>
              <a:t>XGBoost</a:t>
            </a:r>
            <a:r>
              <a:rPr lang="en-US" sz="1100" dirty="0"/>
              <a:t> | </a:t>
            </a:r>
            <a:r>
              <a:rPr lang="en-US" sz="1100" dirty="0" err="1"/>
              <a:t>Joblib</a:t>
            </a: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Deployed on </a:t>
            </a:r>
            <a:r>
              <a:rPr lang="en-US" sz="1100" dirty="0" err="1"/>
              <a:t>Streamlit</a:t>
            </a:r>
            <a:r>
              <a:rPr lang="en-US" sz="1100" dirty="0"/>
              <a:t> Community Cloud</a:t>
            </a:r>
          </a:p>
          <a:p>
            <a:pPr marL="114300" indent="0">
              <a:buNone/>
            </a:pPr>
            <a:r>
              <a:rPr lang="en-US" sz="1100" dirty="0"/>
              <a:t>↳ Connected to GitHub repo for auto updates</a:t>
            </a:r>
          </a:p>
        </p:txBody>
      </p:sp>
    </p:spTree>
    <p:extLst>
      <p:ext uri="{BB962C8B-B14F-4D97-AF65-F5344CB8AC3E}">
        <p14:creationId xmlns:p14="http://schemas.microsoft.com/office/powerpoint/2010/main" val="176139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73FDA-76D7-FB8D-9B51-802E14DFB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70021"/>
            <a:ext cx="8520600" cy="3868829"/>
          </a:xfrm>
        </p:spPr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 descr="A screenshot of a medical survey&#10;&#10;AI-generated content may be incorrect.">
            <a:extLst>
              <a:ext uri="{FF2B5EF4-FFF2-40B4-BE49-F238E27FC236}">
                <a16:creationId xmlns:a16="http://schemas.microsoft.com/office/drawing/2014/main" id="{540FA3F9-E0A2-B8B5-4FA3-9DE0A45A6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770020"/>
            <a:ext cx="8520600" cy="386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34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8A09F-3A69-C6BE-8315-295067B4C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43467"/>
            <a:ext cx="8520600" cy="399538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 descr="A screenshot of a medical survey&#10;&#10;AI-generated content may be incorrect.">
            <a:extLst>
              <a:ext uri="{FF2B5EF4-FFF2-40B4-BE49-F238E27FC236}">
                <a16:creationId xmlns:a16="http://schemas.microsoft.com/office/drawing/2014/main" id="{C71F1521-78E4-5513-6DCC-A7A60AFDF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99" y="676100"/>
            <a:ext cx="8520599" cy="399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597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B3541-1AA3-F464-B7EA-E6F837FC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72A33-D28F-95A6-C405-398DB3D62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100" dirty="0"/>
              <a:t>↳ Built end-to-end ML pipeline on 253,680 CDC survey records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XGBoost</a:t>
            </a:r>
            <a:r>
              <a:rPr lang="en-US" sz="1100" dirty="0"/>
              <a:t> is the best model with 74.8% accuracy and </a:t>
            </a:r>
          </a:p>
          <a:p>
            <a:pPr marL="114300" indent="0">
              <a:buNone/>
            </a:pPr>
            <a:r>
              <a:rPr lang="en-US" sz="1100" dirty="0"/>
              <a:t>  most balanced performance across all classes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SHAP analysis confirms </a:t>
            </a:r>
            <a:r>
              <a:rPr lang="en-US" sz="1100" dirty="0" err="1"/>
              <a:t>GenHlth</a:t>
            </a:r>
            <a:r>
              <a:rPr lang="en-US" sz="1100" dirty="0"/>
              <a:t>, </a:t>
            </a:r>
            <a:r>
              <a:rPr lang="en-US" sz="1100" dirty="0" err="1"/>
              <a:t>HighBP</a:t>
            </a:r>
            <a:r>
              <a:rPr lang="en-US" sz="1100" dirty="0"/>
              <a:t>, Age and BMI </a:t>
            </a:r>
          </a:p>
          <a:p>
            <a:pPr marL="114300" indent="0">
              <a:buNone/>
            </a:pPr>
            <a:r>
              <a:rPr lang="en-US" sz="1100" dirty="0"/>
              <a:t>  are the strongest diabetes risk factors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Feature engineering added value — </a:t>
            </a:r>
            <a:r>
              <a:rPr lang="en-US" sz="1100" dirty="0" err="1"/>
              <a:t>BMI_Category</a:t>
            </a:r>
            <a:r>
              <a:rPr lang="en-US" sz="1100" dirty="0"/>
              <a:t> and </a:t>
            </a:r>
          </a:p>
          <a:p>
            <a:pPr marL="114300" indent="0">
              <a:buNone/>
            </a:pPr>
            <a:r>
              <a:rPr lang="en-US" sz="1100" dirty="0"/>
              <a:t>  </a:t>
            </a:r>
            <a:r>
              <a:rPr lang="en-US" sz="1100" dirty="0" err="1"/>
              <a:t>Health_Score</a:t>
            </a:r>
            <a:r>
              <a:rPr lang="en-US" sz="1100" dirty="0"/>
              <a:t> both appear in top 10 SHAP features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Prediabetes remains the hardest class to predict due </a:t>
            </a:r>
          </a:p>
          <a:p>
            <a:pPr marL="114300" indent="0">
              <a:buNone/>
            </a:pPr>
            <a:r>
              <a:rPr lang="en-US" sz="1100" dirty="0"/>
              <a:t>  to severe underrepresentation (1.83%) in the dataset</a:t>
            </a:r>
          </a:p>
          <a:p>
            <a:pPr marL="114300" indent="0">
              <a:buNone/>
            </a:pPr>
            <a:r>
              <a:rPr lang="en-US" sz="1100" dirty="0"/>
              <a:t>  — a known real world healthcare challenge</a:t>
            </a:r>
          </a:p>
          <a:p>
            <a:pPr marL="114300" indent="0">
              <a:buNone/>
            </a:pPr>
            <a:endParaRPr lang="en-US" sz="1100" dirty="0"/>
          </a:p>
          <a:p>
            <a:pPr marL="114300" indent="0">
              <a:buNone/>
            </a:pPr>
            <a:r>
              <a:rPr lang="en-US" sz="1100" dirty="0"/>
              <a:t>↳ </a:t>
            </a:r>
            <a:r>
              <a:rPr lang="en-US" sz="1100" dirty="0" err="1"/>
              <a:t>Streamlit</a:t>
            </a:r>
            <a:r>
              <a:rPr lang="en-US" sz="1100" dirty="0"/>
              <a:t> app successfully deployed for real-time </a:t>
            </a:r>
          </a:p>
          <a:p>
            <a:pPr marL="114300" indent="0">
              <a:buNone/>
            </a:pPr>
            <a:r>
              <a:rPr lang="en-US" sz="1100" dirty="0"/>
              <a:t>  diabetes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3599701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CA08-69F4-65A1-6CDB-C9104022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9EAC5-DAD7-EBD2-D552-9AD8EA673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dirty="0"/>
              <a:t>Questions?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Ritik Sunil Toksiya </a:t>
            </a:r>
          </a:p>
          <a:p>
            <a:pPr marL="114300" indent="0">
              <a:buNone/>
            </a:pPr>
            <a:r>
              <a:rPr lang="en-US" dirty="0"/>
              <a:t>ritiktoksiya99.github.io </a:t>
            </a:r>
          </a:p>
          <a:p>
            <a:pPr marL="114300" indent="0">
              <a:buNone/>
            </a:pPr>
            <a:r>
              <a:rPr lang="en-US" dirty="0" err="1"/>
              <a:t>linkedin.com</a:t>
            </a:r>
            <a:r>
              <a:rPr lang="en-US" dirty="0"/>
              <a:t>/in/</a:t>
            </a:r>
            <a:r>
              <a:rPr lang="en-US" dirty="0" err="1"/>
              <a:t>ritik-toksiya</a:t>
            </a: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dirty="0"/>
              <a:t>https://5nrf2swp2buptpmwwiklxg.streamlit.app</a:t>
            </a:r>
          </a:p>
        </p:txBody>
      </p:sp>
    </p:spTree>
    <p:extLst>
      <p:ext uri="{BB962C8B-B14F-4D97-AF65-F5344CB8AC3E}">
        <p14:creationId xmlns:p14="http://schemas.microsoft.com/office/powerpoint/2010/main" val="2021863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BC presentation template" id="{AB65D83E-2400-6B44-80B6-570C4D1979AE}" vid="{575BF1C9-A2EC-6C4D-85BC-EA12E69D25D9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ED8954222B1C429A59F0EC15EF7AA8" ma:contentTypeVersion="3" ma:contentTypeDescription="Create a new document." ma:contentTypeScope="" ma:versionID="0d60aa1db23f65adc289745d523415cb">
  <xsd:schema xmlns:xsd="http://www.w3.org/2001/XMLSchema" xmlns:xs="http://www.w3.org/2001/XMLSchema" xmlns:p="http://schemas.microsoft.com/office/2006/metadata/properties" xmlns:ns2="3d49952c-a256-405f-b031-e3a3291e2b23" targetNamespace="http://schemas.microsoft.com/office/2006/metadata/properties" ma:root="true" ma:fieldsID="6950b06e8532f9ac7d38c40afa82ae3a" ns2:_="">
    <xsd:import namespace="3d49952c-a256-405f-b031-e3a3291e2b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49952c-a256-405f-b031-e3a3291e2b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1E8249-7A07-46C3-8690-7972F9AAD6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49952c-a256-405f-b031-e3a3291e2b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7D5036-224F-4702-A7D6-45C6253E8B4D}">
  <ds:schemaRefs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dcmitype/"/>
    <ds:schemaRef ds:uri="http://www.w3.org/XML/1998/namespace"/>
    <ds:schemaRef ds:uri="http://schemas.openxmlformats.org/package/2006/metadata/core-properties"/>
    <ds:schemaRef ds:uri="3d49952c-a256-405f-b031-e3a3291e2b23"/>
  </ds:schemaRefs>
</ds:datastoreItem>
</file>

<file path=customXml/itemProps3.xml><?xml version="1.0" encoding="utf-8"?>
<ds:datastoreItem xmlns:ds="http://schemas.openxmlformats.org/officeDocument/2006/customXml" ds:itemID="{0E2477F5-ACFC-4ED1-ACC1-C27FFFF6437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1561</Words>
  <Application>Microsoft Macintosh PowerPoint</Application>
  <PresentationFormat>On-screen Show (16:9)</PresentationFormat>
  <Paragraphs>270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Mona Sans VF</vt:lpstr>
      <vt:lpstr>system-ui</vt:lpstr>
      <vt:lpstr>Office Theme</vt:lpstr>
      <vt:lpstr>Simple Light</vt:lpstr>
      <vt:lpstr>Diabetes Risk Prediction and Analysis Using Clinical and Lifestyle Factors</vt:lpstr>
      <vt:lpstr>Agenda</vt:lpstr>
      <vt:lpstr>Problem Statement &amp; Motivation</vt:lpstr>
      <vt:lpstr>Dataset Overview</vt:lpstr>
      <vt:lpstr>Exploratory Data Analysis</vt:lpstr>
      <vt:lpstr>EDA — Categorical Features Analysis</vt:lpstr>
      <vt:lpstr>EDA — Numerical Features Analysis</vt:lpstr>
      <vt:lpstr>PowerPoint Presentation</vt:lpstr>
      <vt:lpstr>EDA — Correlation Heatmap</vt:lpstr>
      <vt:lpstr>Feature Engineering</vt:lpstr>
      <vt:lpstr>Data Preprocessing</vt:lpstr>
      <vt:lpstr>Model Training &amp; Results</vt:lpstr>
      <vt:lpstr>Classification Report</vt:lpstr>
      <vt:lpstr>ROC Curve Analysis</vt:lpstr>
      <vt:lpstr>Feature Importance &amp; SHAP Analysis</vt:lpstr>
      <vt:lpstr>Cross Validation</vt:lpstr>
      <vt:lpstr>Streamlit Web Application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Ritik Toksiya</dc:creator>
  <cp:lastModifiedBy>Ritik Toksiya</cp:lastModifiedBy>
  <cp:revision>6</cp:revision>
  <cp:lastPrinted>2022-12-06T17:26:06Z</cp:lastPrinted>
  <dcterms:created xsi:type="dcterms:W3CDTF">2026-04-23T18:38:09Z</dcterms:created>
  <dcterms:modified xsi:type="dcterms:W3CDTF">2026-04-23T20:26:22Z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0x01010066ED8954222B1C429A59F0EC15EF7AA8</vt:lpwstr>
  </property>
</Properties>
</file>